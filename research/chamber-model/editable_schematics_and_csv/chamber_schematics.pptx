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Chamber schematics</a:t>
            </a:r>
          </a:p>
          <a:p>
            <a:pPr>
              <a:defRPr sz="2000">
                <a:solidFill>
                  <a:srgbClr val="566573"/>
                </a:solidFill>
              </a:defRPr>
            </a:pPr>
            <a:r>
              <a:t>Subcooled pool-boiling chamber with submerged tube-bundle condenser</a:t>
            </a:r>
          </a:p>
          <a:p>
            <a:pPr>
              <a:defRPr sz="1300">
                <a:solidFill>
                  <a:srgbClr val="566573"/>
                </a:solidFill>
              </a:defRPr>
            </a:pPr>
            <a:r>
              <a:t>Editable vector graphics (EMF). In PowerPoint, right-click a figure &gt; Group &gt; Ungroup to edit shapes, colours, and labels. SVG and PDF versions are in schematics/ for Inkscape.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C3E50"/>
                </a:solidFill>
              </a:defRPr>
            </a:pPr>
            <a:r>
              <a:t>Gray-box reduced-order physics map</a:t>
            </a:r>
          </a:p>
        </p:txBody>
      </p:sp>
      <p:pic>
        <p:nvPicPr>
          <p:cNvPr id="3" name="Picture 2" descr="physics_mode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627" y="1078992"/>
            <a:ext cx="8224441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66573"/>
                </a:solidFill>
              </a:defRPr>
            </a:pPr>
            <a:r>
              <a:t>Part I model structure. Colour key: green = inputs, blue = established physics, amber = fitted gray-box constants, purple = output /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C3E50"/>
                </a:solidFill>
              </a:defRPr>
            </a:pPr>
            <a:r>
              <a:t>3D VOF numerical study map</a:t>
            </a:r>
          </a:p>
        </p:txBody>
      </p:sp>
      <p:pic>
        <p:nvPicPr>
          <p:cNvPr id="3" name="Picture 2" descr="numerical_stud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702" y="1078992"/>
            <a:ext cx="7104290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66573"/>
                </a:solidFill>
              </a:defRPr>
            </a:pPr>
            <a:r>
              <a:t>Part II CFD framework. Colour key: green = geometry, blue = mesh pipeline, yellow = solver setup, amber = production-resolution step (not yet done), red = honest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C3E50"/>
                </a:solidFill>
              </a:defRPr>
            </a:pPr>
            <a:r>
              <a:t>33-tube condenser bundle (cross-section)</a:t>
            </a:r>
          </a:p>
        </p:txBody>
      </p:sp>
      <p:pic>
        <p:nvPicPr>
          <p:cNvPr id="3" name="Picture 2" descr="bundle_xsec_33t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078992"/>
            <a:ext cx="11155680" cy="48510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66573"/>
                </a:solidFill>
              </a:defRPr>
            </a:pPr>
            <a:r>
              <a:t>Measured tube layout, OD 4.76 mm / ID 3.14 mm, open manifold. Liquid level shown for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C3E50"/>
                </a:solidFill>
              </a:defRPr>
            </a:pPr>
            <a:r>
              <a:t>42-tube condenser bundle (cross-section)</a:t>
            </a:r>
          </a:p>
        </p:txBody>
      </p:sp>
      <p:pic>
        <p:nvPicPr>
          <p:cNvPr id="3" name="Picture 2" descr="bundle_xsec_42t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693" y="1078992"/>
            <a:ext cx="9760308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66573"/>
                </a:solidFill>
              </a:defRPr>
            </a:pPr>
            <a:r>
              <a:t>Measured CAD tube layout, OD 3.175 mm / ID 1.39 mm, confined in-chamber manifold.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C3E50"/>
                </a:solidFill>
              </a:defRPr>
            </a:pPr>
            <a:r>
              <a:t>66-tube condenser bundle (cross-section)</a:t>
            </a:r>
          </a:p>
        </p:txBody>
      </p:sp>
      <p:pic>
        <p:nvPicPr>
          <p:cNvPr id="3" name="Picture 2" descr="bundle_xsec_66t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078992"/>
            <a:ext cx="11155680" cy="32340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66573"/>
                </a:solidFill>
              </a:defRPr>
            </a:pPr>
            <a:r>
              <a:t>Denser bundle, OD 2.0 mm / ID 1.8 mm (geometry table). Forecast geometry, no data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C3E50"/>
                </a:solidFill>
              </a:defRPr>
            </a:pPr>
            <a:r>
              <a:t>Computational domain (front x-z section)</a:t>
            </a:r>
          </a:p>
        </p:txBody>
      </p:sp>
      <p:pic>
        <p:nvPicPr>
          <p:cNvPr id="3" name="Picture 2" descr="computational_domain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466" y="1078992"/>
            <a:ext cx="8968762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66573"/>
                </a:solidFill>
              </a:defRPr>
            </a:pPr>
            <a:r>
              <a:t>Chamber 80 x 80 x 42 mm, 40% fill (16.8 mm), heated chip on the floor, bundle straddling the interface.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C3E50"/>
                </a:solidFill>
              </a:defRPr>
            </a:pPr>
            <a:r>
              <a:t>Open-microchannel evaporator surface</a:t>
            </a:r>
          </a:p>
        </p:txBody>
      </p:sp>
      <p:pic>
        <p:nvPicPr>
          <p:cNvPr id="3" name="Picture 2" descr="microchannel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078992"/>
            <a:ext cx="11155680" cy="41027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66573"/>
                </a:solidFill>
              </a:defRPr>
            </a:pPr>
            <a:r>
              <a:t>Cooke-Kandlikar geometry: 381 um wide channels, 400 um deep, 250 um fins; area augmentation A_r = 2.17.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